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A1628"/>
                </a:solidFill>
                <a:latin typeface="Arial"/>
              </a:rPr>
              <a:t>Accuracy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F406-4ED2-8D90-2DB636746FCB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F406-4ED2-8D90-2DB636746FCB}"/>
              </c:ext>
            </c:extLst>
          </c:dPt>
          <c:dPt>
            <c:idx val="2"/>
            <c:invertIfNegative val="0"/>
            <c:bubble3D val="0"/>
            <c:spPr>
              <a:solidFill>
                <a:srgbClr val="F6AD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F406-4ED2-8D90-2DB636746FC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Keystroke Only</c:v>
                </c:pt>
                <c:pt idx="1">
                  <c:v>Eye Tracking Only</c:v>
                </c:pt>
                <c:pt idx="2">
                  <c:v>Multimodal Fusion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82</c:v>
                </c:pt>
                <c:pt idx="2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406-4ED2-8D90-2DB636746F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77409024"/>
        <c:axId val="178259072"/>
      </c:barChart>
      <c:catAx>
        <c:axId val="1774090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178259072"/>
        <c:crosses val="autoZero"/>
        <c:auto val="1"/>
        <c:lblAlgn val="ctr"/>
        <c:lblOffset val="100"/>
        <c:noMultiLvlLbl val="1"/>
      </c:catAx>
      <c:valAx>
        <c:axId val="17825907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1774090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93538-17C4-46ED-81FA-8C937539E7D0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B755B-8ECF-42DE-AFD5-87F3D4046E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169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1943"/>
            <a:ext cx="5982662" cy="645407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7553"/>
            <a:ext cx="5982662" cy="727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FINAL PRESETATION ON MINI PROJECT </a:t>
            </a:r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Cognitive Load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800" b="1" dirty="0">
              <a:solidFill>
                <a:srgbClr val="00B4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System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i="1" dirty="0">
              <a:solidFill>
                <a:srgbClr val="CBD5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Keystroke Dynamics &amp; Webcam-Based Eye Movement Analysis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68254" y="2967445"/>
            <a:ext cx="5029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175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>
              <a:solidFill>
                <a:srgbClr val="CBD5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 Kadam  •  Tanuja Gawali  •  Tanmay Gawali 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Devyani Jadhav  |  Dept. of AI &amp; ML, Sanjivani University, Kopargaon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1097280"/>
            <a:ext cx="1828800" cy="1828800"/>
          </a:xfrm>
          <a:prstGeom prst="ellipse">
            <a:avLst/>
          </a:prstGeom>
          <a:solidFill>
            <a:srgbClr val="1A3560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141732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937760"/>
            <a:ext cx="7315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</a:rPr>
              <a:t>AI &amp; ML Department  |  Sanjivani University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6663961-74FE-4E84-B1A9-7F523814E93E}"/>
              </a:ext>
            </a:extLst>
          </p:cNvPr>
          <p:cNvPicPr/>
          <p:nvPr/>
        </p:nvPicPr>
        <p:blipFill rotWithShape="1">
          <a:blip r:embed="rId3"/>
          <a:srcRect l="18756" r="8639"/>
          <a:stretch/>
        </p:blipFill>
        <p:spPr>
          <a:xfrm>
            <a:off x="6778171" y="1105929"/>
            <a:ext cx="1998182" cy="189166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95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6517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💻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Overload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digital work leads to cognitive overload, reducing accuracy, decision-making, and productivity.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26517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371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🧪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33756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Intrusive Methods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28346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tools (EEG, fNIRS) are expensive, require lab settings, and are impractical for everyday use.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14300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143000"/>
            <a:ext cx="26517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371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⚡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21792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Solution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28346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lack real-time, non-invasive, scalable prediction of cognitive load in natural settings.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937760"/>
            <a:ext cx="8229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0"/>
                </a:solidFill>
              </a:rPr>
              <a:t>Real-Time Cognitive Load Prediction  |  Sanjivani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low-cost, non-intrusive, multimodal real-time cognitive load monitoring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2926080"/>
          </a:xfrm>
          <a:prstGeom prst="rect">
            <a:avLst/>
          </a:prstGeom>
          <a:solidFill>
            <a:srgbClr val="1A35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⌨️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 Dynamics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7315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871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Speed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7315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626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Inter-Key Interval (IKI)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7315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4381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(backspaces)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280160"/>
            <a:ext cx="4114800" cy="2926080"/>
          </a:xfrm>
          <a:prstGeom prst="rect">
            <a:avLst/>
          </a:prstGeom>
          <a:solidFill>
            <a:srgbClr val="1A35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3716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👁️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937760" y="1965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Movement (Webcam)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0" y="2514600"/>
            <a:ext cx="7315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24871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Rate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2990088"/>
            <a:ext cx="7315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29626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Fixation Duration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3465576"/>
            <a:ext cx="7315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34381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Stability (EAR)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06240" y="2560320"/>
            <a:ext cx="731520" cy="10972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2331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6AD55"/>
                </a:solidFill>
              </a:rPr>
              <a:t>⟹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286000" y="4389120"/>
            <a:ext cx="45720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4389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Cognitive Load Score (0–100)  +  Low / Medium / High Classification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37760"/>
            <a:ext cx="8229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0"/>
                </a:solidFill>
              </a:rPr>
              <a:t>Real-Time Cognitive Load Prediction  |  Sanjivani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95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1508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150876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430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1752" y="17373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" y="24231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Keystrokes + Webcam @30fps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1031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65960" y="1143000"/>
            <a:ext cx="1508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65960" y="1143000"/>
            <a:ext cx="150876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11430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39112" y="17373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39112" y="24231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+ Min-Max Scaling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1031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03320" y="1143000"/>
            <a:ext cx="1508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03320" y="1143000"/>
            <a:ext cx="150876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11430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76472" y="17373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76472" y="24231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Behavioral Features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21031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40680" y="1143000"/>
            <a:ext cx="1508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40680" y="1143000"/>
            <a:ext cx="150876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11430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13832" y="17373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Fusion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13832" y="24231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Feature-Level + Decision-Level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21031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78040" y="1143000"/>
            <a:ext cx="15087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78040" y="1143000"/>
            <a:ext cx="150876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8040" y="11430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51192" y="17373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51192" y="24231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SVM Classification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28800" y="3931920"/>
            <a:ext cx="5486400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0" y="39319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Cognitive Load Output: Score (0–100) + Class Label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37760"/>
            <a:ext cx="8229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0"/>
                </a:solidFill>
              </a:rPr>
              <a:t>Real-Time Cognitive Load Prediction  |  Sanjivani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1371600"/>
          </a:xfrm>
          <a:prstGeom prst="rect">
            <a:avLst/>
          </a:prstGeom>
          <a:solidFill>
            <a:srgbClr val="1A35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 18–25)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914400"/>
            <a:ext cx="1828800" cy="1371600"/>
          </a:xfrm>
          <a:prstGeom prst="rect">
            <a:avLst/>
          </a:prstGeom>
          <a:solidFill>
            <a:srgbClr val="1A35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960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~4K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514600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1828800" cy="1371600"/>
          </a:xfrm>
          <a:prstGeom prst="rect">
            <a:avLst/>
          </a:prstGeom>
          <a:solidFill>
            <a:srgbClr val="1A35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960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72000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29400" y="914400"/>
            <a:ext cx="1828800" cy="1371600"/>
          </a:xfrm>
          <a:prstGeom prst="rect">
            <a:avLst/>
          </a:prstGeom>
          <a:solidFill>
            <a:srgbClr val="1A35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9601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629400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DESIGN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109728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71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2971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Copy Typing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1097280" cy="41148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66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91640" y="3566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Coding Tasks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109728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60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91640" y="4160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Debugging &amp; Problem-Solving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0" y="2971800"/>
            <a:ext cx="64008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29718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OpenCV  •  MediaPipe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0" y="3566160"/>
            <a:ext cx="64008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3566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 •  NumPy  •  Pandas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0" y="4160520"/>
            <a:ext cx="64008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4160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Train/Val/Test: 70% / 15% / 15%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937760"/>
            <a:ext cx="8229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0"/>
                </a:solidFill>
              </a:rPr>
              <a:t>Real-Time Cognitive Load Prediction  |  Sanjivani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95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394960" y="1005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463040"/>
          <a:ext cx="3474720" cy="1463040"/>
        </p:xfrm>
        <a:graphic>
          <a:graphicData uri="http://schemas.openxmlformats.org/drawingml/2006/table">
            <a:tbl>
              <a:tblPr/>
              <a:tblGrid>
                <a:gridCol w="1158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Keystroke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Eye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 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394960" y="3063240"/>
            <a:ext cx="347472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394960" y="3108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532120" y="34930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Typing variability +30% under high load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532120" y="37490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Blink rate increased by 20%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532120" y="40050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Fusion improved accuracy by 9–13%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" y="4937760"/>
            <a:ext cx="8229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0"/>
                </a:solidFill>
              </a:rPr>
              <a:t>Real-Time Cognitive Load Prediction  |  Sanjivani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FUSION APPROACH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1A35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Feature-Level Fusion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keystroke and eye features are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concatenated into a single feature vector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model training.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Single unified model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Lower computational cost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Best for correlated features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1A3560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Decision-Level Fusion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60020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models trained per modality.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combined via weighted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and majority voting.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Modality independence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Robust to sensor failure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Flexible ensemble approach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0" y="2331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937760"/>
            <a:ext cx="8229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0"/>
                </a:solidFill>
              </a:rPr>
              <a:t>Real-Time Cognitive Load Prediction  |  Sanjivani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95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FUTURE SCOPE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73152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88720" y="1234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600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adjust course difficulty based on student cognitive state in e-learning platforms.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73152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234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669280" y="1234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Monitoring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0" y="16002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employee cognitive fatigue in real-time to prevent burnout and optimize work schedules.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26080"/>
            <a:ext cx="73152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88720" y="3063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Research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429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how users interact with interfaces under different cognitive loads to improve UI/UX design.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92608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926080"/>
            <a:ext cx="73152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🚗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669280" y="3063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0" y="3429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cognitive overload or distraction in drivers to trigger safety alerts in real time.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LSTM / Transformer models  •  Larger datasets  •  Personalized models  •  Privacy-preserving deployment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37760"/>
            <a:ext cx="8229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0"/>
                </a:solidFill>
              </a:rPr>
              <a:t>Real-Time Cognitive Load Prediction  |  Sanjivani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138160" cy="685800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0058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 low-cost, non-intrusive real-time cognitive load prediction 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138160" cy="685800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18745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keystroke dynamics and webcam-based eye tracking via multimodal fusion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138160" cy="685800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4320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432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2743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model achieved 91% accuracy — outperforming individual modalities by 9–13%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138160" cy="685800"/>
          </a:xfrm>
          <a:prstGeom prst="rect">
            <a:avLst/>
          </a:prstGeom>
          <a:solidFill>
            <a:srgbClr val="1A3560"/>
          </a:solidFill>
          <a:ln w="12700">
            <a:solidFill>
              <a:srgbClr val="1A35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1188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118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36118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adaptive learning, workplace monitoring, and HCI research at scale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371600" y="4572000"/>
            <a:ext cx="6400800" cy="2743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"Behavioral signals are the most accessible window into the human mind."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37760"/>
            <a:ext cx="8229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0"/>
                </a:solidFill>
              </a:rPr>
              <a:t>Real-Time Cognitive Load Prediction  |  Sanjivani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1A3560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82296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🧠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4023360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questions and feedback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 Kadam  •  Tanuja Gawali  •  Tanmay Gawali 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Devyani Jadhav  |  AI &amp; ML, Sanjivani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654</Words>
  <Application>Microsoft Office PowerPoint</Application>
  <PresentationFormat>On-screen Show (16:9)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Cognitive Load Prediction</dc:title>
  <dc:subject>PptxGenJS Presentation</dc:subject>
  <dc:creator>PptxGenJS</dc:creator>
  <cp:lastModifiedBy>tanuja gawali</cp:lastModifiedBy>
  <cp:revision>6</cp:revision>
  <dcterms:created xsi:type="dcterms:W3CDTF">2026-03-04T17:10:20Z</dcterms:created>
  <dcterms:modified xsi:type="dcterms:W3CDTF">2026-04-09T05:48:36Z</dcterms:modified>
</cp:coreProperties>
</file>